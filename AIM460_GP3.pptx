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 SemiBold"/>
      <p:regular r:id="rId18"/>
      <p:bold r:id="rId19"/>
      <p:italic r:id="rId20"/>
      <p:boldItalic r:id="rId21"/>
    </p:embeddedFont>
    <p:embeddedFont>
      <p:font typeface="Nunito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Old Standard TT"/>
      <p:regular r:id="rId30"/>
      <p:bold r:id="rId31"/>
      <p:italic r:id="rId32"/>
    </p:embeddedFont>
    <p:embeddedFont>
      <p:font typeface="Merriweather ExtraBold"/>
      <p:bold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italic.fntdata"/><Relationship Id="rId22" Type="http://schemas.openxmlformats.org/officeDocument/2006/relationships/font" Target="fonts/Nunito-regular.fntdata"/><Relationship Id="rId21" Type="http://schemas.openxmlformats.org/officeDocument/2006/relationships/font" Target="fonts/MontserratSemiBold-boldItalic.fntdata"/><Relationship Id="rId24" Type="http://schemas.openxmlformats.org/officeDocument/2006/relationships/font" Target="fonts/Nunito-italic.fntdata"/><Relationship Id="rId23" Type="http://schemas.openxmlformats.org/officeDocument/2006/relationships/font" Target="fonts/Nuni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font" Target="fonts/Nunito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ldStandardTT-bold.fntdata"/><Relationship Id="rId30" Type="http://schemas.openxmlformats.org/officeDocument/2006/relationships/font" Target="fonts/OldStandardTT-regular.fntdata"/><Relationship Id="rId11" Type="http://schemas.openxmlformats.org/officeDocument/2006/relationships/slide" Target="slides/slide6.xml"/><Relationship Id="rId33" Type="http://schemas.openxmlformats.org/officeDocument/2006/relationships/font" Target="fonts/MerriweatherExtraBold-bold.fntdata"/><Relationship Id="rId10" Type="http://schemas.openxmlformats.org/officeDocument/2006/relationships/slide" Target="slides/slide5.xml"/><Relationship Id="rId32" Type="http://schemas.openxmlformats.org/officeDocument/2006/relationships/font" Target="fonts/OldStandardT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MerriweatherExtraBold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SemiBold-bold.fntdata"/><Relationship Id="rId18" Type="http://schemas.openxmlformats.org/officeDocument/2006/relationships/font" Target="fonts/Montserra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13f309cf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13f309cf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90525e20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90525e20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13f309cf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813f309cf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634e199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634e199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13f309cf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813f309cf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90525e20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90525e20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13f309cf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13f309cf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13f309cf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813f309cf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13f309cf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13f309cf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13f309cf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13f309cf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13f309cf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13f309cf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jp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38147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Tyler James</a:t>
            </a:r>
            <a:endParaRPr sz="15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James Anderson</a:t>
            </a:r>
            <a:endParaRPr sz="15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Shajeel Rehman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312775" y="3022100"/>
            <a:ext cx="2604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Neural Networks vs. Classical Methods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1164250" y="902350"/>
            <a:ext cx="6735150" cy="1772874"/>
          </a:xfrm>
          <a:prstGeom prst="flowChartTerminator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chemeClr val="lt1"/>
                </a:solidFill>
                <a:latin typeface="Merriweather ExtraBold"/>
                <a:ea typeface="Merriweather ExtraBold"/>
                <a:cs typeface="Merriweather ExtraBold"/>
                <a:sym typeface="Merriweather ExtraBold"/>
              </a:rPr>
              <a:t>Project 3: Deep &amp; Wide Nets, </a:t>
            </a:r>
            <a:endParaRPr sz="3200">
              <a:solidFill>
                <a:schemeClr val="lt1"/>
              </a:solidFill>
              <a:latin typeface="Merriweather ExtraBold"/>
              <a:ea typeface="Merriweather ExtraBold"/>
              <a:cs typeface="Merriweather ExtraBold"/>
              <a:sym typeface="Merriweather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chemeClr val="lt1"/>
                </a:solidFill>
                <a:latin typeface="Merriweather ExtraBold"/>
                <a:ea typeface="Merriweather ExtraBold"/>
                <a:cs typeface="Merriweather ExtraBold"/>
                <a:sym typeface="Merriweather ExtraBold"/>
              </a:rPr>
              <a:t>RNNs, Kernels &amp; Regressions</a:t>
            </a:r>
            <a:endParaRPr sz="3200">
              <a:solidFill>
                <a:schemeClr val="lt1"/>
              </a:solidFill>
              <a:latin typeface="Merriweather ExtraBold"/>
              <a:ea typeface="Merriweather ExtraBold"/>
              <a:cs typeface="Merriweather ExtraBold"/>
              <a:sym typeface="Merriweather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99475" y="454375"/>
            <a:ext cx="454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62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&amp; Setup</a:t>
            </a:r>
            <a:endParaRPr b="1" sz="362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264700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Two crash datasets (≥3000 rows each, ≥5 features)</a:t>
            </a:r>
            <a:b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Collected one dataset via API</a:t>
            </a:r>
            <a:b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Cleaning: missing values, outlier detection, categorical encoding, scaling.</a:t>
            </a:r>
            <a:b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Feature engineering: interaction terms, ratios, rolling counts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200" y="1305000"/>
            <a:ext cx="3082926" cy="36861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57150">
              <a:schemeClr val="lt1">
                <a:alpha val="50000"/>
              </a:schemeClr>
            </a:outerShdw>
          </a:effectLst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0900" y="1395213"/>
            <a:ext cx="5491075" cy="3370799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57150">
              <a:schemeClr val="lt1">
                <a:alpha val="50000"/>
              </a:schemeClr>
            </a:outerShdw>
          </a:effectLst>
        </p:spPr>
      </p:pic>
      <p:sp>
        <p:nvSpPr>
          <p:cNvPr id="69" name="Google Shape;69;p15"/>
          <p:cNvSpPr txBox="1"/>
          <p:nvPr>
            <p:ph type="title"/>
          </p:nvPr>
        </p:nvSpPr>
        <p:spPr>
          <a:xfrm>
            <a:off x="175800" y="233075"/>
            <a:ext cx="879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Dataset A (API): NYC Motor Vehicle - Collisions (API).</a:t>
            </a:r>
            <a:endParaRPr sz="222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Dataset B (GitHub): NYC Motor Vehicle - Vehicle records</a:t>
            </a:r>
            <a:endParaRPr sz="222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348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22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Linear &amp; Regularized Models</a:t>
            </a:r>
            <a:endParaRPr b="1" sz="322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4169875" y="118232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OLS, Ridge, LASSO, Elastic Net</a:t>
            </a:r>
            <a:b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Hyperparameter tuning (alpha, lambda, etc.)</a:t>
            </a:r>
            <a:b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Ridge improved stability; LASSO performed feature selection</a:t>
            </a:r>
            <a:b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Baseline performance: R² lower than NN-based methods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825" y="1182313"/>
            <a:ext cx="3207516" cy="3820975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7200000" dist="47625">
              <a:srgbClr val="FFFF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1714925" y="139625"/>
            <a:ext cx="503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background and context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235350" y="943525"/>
            <a:ext cx="88140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4641"/>
              <a:buFont typeface="Montserrat"/>
              <a:buChar char="-"/>
            </a:pPr>
            <a:r>
              <a:rPr lang="en" sz="152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Crashes in NYC are much more common at night when visibility is low. </a:t>
            </a:r>
            <a:r>
              <a:rPr lang="en" sz="152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Additionally</a:t>
            </a:r>
            <a:r>
              <a:rPr lang="en" sz="152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crashes between midnight and </a:t>
            </a:r>
            <a:r>
              <a:rPr lang="en" sz="152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6am</a:t>
            </a:r>
            <a:r>
              <a:rPr lang="en" sz="152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tend to cause more severe or fatal injuries. This is why we used the engineered feature “hour”.                                                                                                                                                                                              </a:t>
            </a:r>
            <a:r>
              <a:rPr lang="en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Citation:  https://www.nyc.gov/html/dot/downloads/pdf/nyc_ped_safety_study_action_plan_technical_supplement.pdf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29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7497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91561"/>
              <a:buFont typeface="Montserrat"/>
              <a:buChar char="-"/>
            </a:pPr>
            <a:r>
              <a:rPr lang="en" sz="152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Month of the year </a:t>
            </a:r>
            <a:r>
              <a:rPr lang="en" sz="152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lang="en" sz="152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seasonal cycles also </a:t>
            </a:r>
            <a:r>
              <a:rPr lang="en" sz="152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directly</a:t>
            </a:r>
            <a:r>
              <a:rPr lang="en" sz="152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contribute to the number of crashes. Earlier sunsets in Fall/winter correspond to moree crashes, with accidents peaking in October and dropping to their lowest in march. This is why we used the engineered feature “month”            </a:t>
            </a:r>
            <a:r>
              <a:rPr lang="en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                                                                                              </a:t>
            </a:r>
            <a:r>
              <a:rPr lang="en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Citation: https://injuryfacts.nsc.org/motor-vehicle/overview/crashes-by-month</a:t>
            </a:r>
            <a:endParaRPr sz="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29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7497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91561"/>
              <a:buFont typeface="Montserrat"/>
              <a:buChar char="-"/>
            </a:pPr>
            <a:r>
              <a:rPr lang="en" sz="152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Pedestrian crashes are more often than not at intersections: “Crashes at intersections typically comprise 51 percent of all fatalities and 68 percent of all injuries in a year. For pedestrians, the dangers are more pronounced: 59 percent of pedestrian fatalities and 77 percent of pedestrian traffic injuries occur at intersections.” This resulted in our engineered feature “is_intersection”</a:t>
            </a:r>
            <a:r>
              <a:rPr lang="en" sz="823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  <a:r>
              <a:rPr lang="en" sz="694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                                                                                                                            Citation: https://www.nyc.gov/html/dot/html/pr2024/dot-enhances-pedestrian-safety.shtml</a:t>
            </a:r>
            <a:endParaRPr sz="694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20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20">
                <a:latin typeface="Montserrat"/>
                <a:ea typeface="Montserrat"/>
                <a:cs typeface="Montserrat"/>
                <a:sym typeface="Montserrat"/>
              </a:rPr>
              <a:t>Kernel Ridge Regression</a:t>
            </a:r>
            <a:endParaRPr sz="34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5483700" y="1283400"/>
            <a:ext cx="334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Explored RBF &amp; Polynomial kernels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Manual grid search across gamma, degree, alpha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Better capture of nonlinear relationships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Higher compute cost but improved accuracy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498900"/>
            <a:ext cx="5106074" cy="2985400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5400000" dist="85725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300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20">
                <a:latin typeface="Montserrat"/>
                <a:ea typeface="Montserrat"/>
                <a:cs typeface="Montserrat"/>
                <a:sym typeface="Montserrat"/>
              </a:rPr>
              <a:t>Kernel Ridge Regression</a:t>
            </a:r>
            <a:endParaRPr sz="342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9875" y="1218300"/>
            <a:ext cx="6544257" cy="3820974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762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04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990"/>
              <a:buNone/>
            </a:pPr>
            <a:r>
              <a:rPr b="1" lang="en" sz="342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Neural Networks</a:t>
            </a:r>
            <a:endParaRPr b="1" sz="342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423900" y="1208600"/>
            <a:ext cx="369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Shallow (1 hidden layer), Deep (4+ layers), Wide (single wide layer)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Baseline vs. Enhanced (batch norm, dropout, custom activation)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Improvements, but prone to overfitting vs. kernel methods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5700" y="1189374"/>
            <a:ext cx="2273850" cy="1780726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57150">
              <a:srgbClr val="00FFFF">
                <a:alpha val="50000"/>
              </a:srgbClr>
            </a:outerShdw>
          </a:effectLst>
        </p:spPr>
      </p:pic>
      <p:pic>
        <p:nvPicPr>
          <p:cNvPr id="103" name="Google Shape;10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8450" y="1189375"/>
            <a:ext cx="2273850" cy="1780728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57150">
              <a:srgbClr val="00FFFF">
                <a:alpha val="50000"/>
              </a:srgbClr>
            </a:outerShdw>
          </a:effectLst>
        </p:spPr>
      </p:pic>
      <p:pic>
        <p:nvPicPr>
          <p:cNvPr id="104" name="Google Shape;10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18375" y="3141749"/>
            <a:ext cx="2349098" cy="1868601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57150">
              <a:srgbClr val="00FFFF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310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411">
                <a:latin typeface="Montserrat"/>
                <a:ea typeface="Montserrat"/>
                <a:cs typeface="Montserrat"/>
                <a:sym typeface="Montserrat"/>
              </a:rPr>
              <a:t>Recurrent Neural Networks</a:t>
            </a:r>
            <a:endParaRPr b="1" sz="341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b="1"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Reframed crash data as sequences (time windows)</a:t>
            </a:r>
            <a:br>
              <a:rPr b="1"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b="1"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Built LSTM </a:t>
            </a:r>
            <a:r>
              <a:rPr b="1"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regression</a:t>
            </a:r>
            <a:r>
              <a:rPr b="1"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for temporal prediction</a:t>
            </a:r>
            <a:br>
              <a:rPr b="1"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b="1"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Converged but slower and less accurate than MLP/KRR</a:t>
            </a:r>
            <a:br>
              <a:rPr b="1"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b="1"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Useful for capturing trends over time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1152475"/>
            <a:ext cx="3959997" cy="3820976"/>
          </a:xfrm>
          <a:prstGeom prst="rect">
            <a:avLst/>
          </a:prstGeom>
          <a:noFill/>
          <a:ln>
            <a:noFill/>
          </a:ln>
          <a:effectLst>
            <a:outerShdw blurRad="214313" rotWithShape="0" algn="bl" dir="5400000" dist="571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36975" y="200525"/>
            <a:ext cx="425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411">
                <a:latin typeface="Montserrat"/>
                <a:ea typeface="Montserrat"/>
                <a:cs typeface="Montserrat"/>
                <a:sym typeface="Montserrat"/>
              </a:rPr>
              <a:t>Feature Transfer Experiment</a:t>
            </a:r>
            <a:endParaRPr b="1" sz="341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442125" y="1619750"/>
            <a:ext cx="4041900" cy="32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Extracted embeddings from NN penultimate layer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Trained Ridge, RBF, Polynomial regressors on embeddings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Best model overall:</a:t>
            </a:r>
            <a:r>
              <a:rPr lang="en" sz="1600">
                <a:solidFill>
                  <a:schemeClr val="dk1"/>
                </a:solidFill>
              </a:rPr>
              <a:t> Kernel Ridge (RBF) on embeddings</a:t>
            </a:r>
            <a:endParaRPr sz="2300">
              <a:solidFill>
                <a:schemeClr val="dk1"/>
              </a:solidFill>
            </a:endParaRPr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1625" y="1496150"/>
            <a:ext cx="4371551" cy="275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387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41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Final Results and Reflections</a:t>
            </a:r>
            <a:endParaRPr b="1" sz="341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468300" y="1299375"/>
            <a:ext cx="82074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b="1"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Hardest issue:</a:t>
            </a:r>
            <a:r>
              <a:rPr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The hardest issue was the fact that the website the API was being pulled from was undergoing </a:t>
            </a:r>
            <a:r>
              <a:rPr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maintenance</a:t>
            </a:r>
            <a:r>
              <a:rPr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while trying to rerun the project.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b="1"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New insight:</a:t>
            </a:r>
            <a:r>
              <a:rPr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Combining neural embeddings with classical regressors can outperform standalone deep nets.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ontserrat"/>
              <a:buChar char="●"/>
            </a:pPr>
            <a:r>
              <a:rPr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Final deliverables uploaded: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○"/>
            </a:pP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RESULTS_SUMMARY.md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○"/>
            </a:pP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model_results_summary_all.csv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○"/>
            </a:pP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model_comparison_all.png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02300" y="1902600"/>
            <a:ext cx="2939400" cy="13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THANK</a:t>
            </a:r>
            <a:endParaRPr sz="40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YOU</a:t>
            </a:r>
            <a:r>
              <a:rPr lang="en" sz="4000">
                <a:solidFill>
                  <a:schemeClr val="lt1"/>
                </a:solidFill>
              </a:rPr>
              <a:t>!</a:t>
            </a:r>
            <a:endParaRPr sz="4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